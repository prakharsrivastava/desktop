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fable as a classic Aesop story about flattery and vanity.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both characters before the story begins, so the audience knows the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scene: crow finds cheese, perches in a tree. Build anticipation for the fox's arrival.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fox showers the crow with compliments about her appearance and supposedly beautiful singing voice, working up to the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Climax of the story: the crow, flattered into singing, drops the cheese. The fox catches it instantly.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the moral. Walk through the three takeaways: cost of flattery, vanity blinding judgment, and the value of pausing before reacting.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Optionally invite questions or discussion about other fables with similar lessons.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280160"/>
            <a:ext cx="4572000" cy="4572000"/>
          </a:xfrm>
          <a:prstGeom prst="ellipse">
            <a:avLst/>
          </a:prstGeom>
          <a:solidFill>
            <a:srgbClr val="6B8E4E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114800"/>
            <a:ext cx="3840480" cy="3840480"/>
          </a:xfrm>
          <a:prstGeom prst="ellipse">
            <a:avLst/>
          </a:prstGeom>
          <a:solidFill>
            <a:srgbClr val="5C403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935328" y="914400"/>
            <a:ext cx="1371600" cy="1371600"/>
          </a:xfrm>
          <a:prstGeom prst="ellipse">
            <a:avLst/>
          </a:prstGeom>
          <a:solidFill>
            <a:srgbClr val="2A2722">
              <a:alpha val="85000"/>
            </a:srgbClr>
          </a:solidFill>
          <a:ln w="19050">
            <a:solidFill>
              <a:srgbClr val="D4A24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3656" y="1252728"/>
            <a:ext cx="694944" cy="6949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884768" y="914400"/>
            <a:ext cx="1371600" cy="1371600"/>
          </a:xfrm>
          <a:prstGeom prst="ellipse">
            <a:avLst/>
          </a:prstGeom>
          <a:solidFill>
            <a:srgbClr val="2A2722">
              <a:alpha val="85000"/>
            </a:srgbClr>
          </a:solidFill>
          <a:ln w="19050">
            <a:solidFill>
              <a:srgbClr val="D4A24C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3096" y="1252728"/>
            <a:ext cx="694944" cy="6949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0" y="18745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AESOP FABLE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233172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Fox and the Crow</a:t>
            </a:r>
            <a:endParaRPr lang="en-US" sz="5400" dirty="0"/>
          </a:p>
        </p:txBody>
      </p:sp>
      <p:sp>
        <p:nvSpPr>
          <p:cNvPr id="10" name="Text 6"/>
          <p:cNvSpPr/>
          <p:nvPr/>
        </p:nvSpPr>
        <p:spPr>
          <a:xfrm>
            <a:off x="914400" y="370332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tale of flattery, vanity, and a stolen piece of cheese</a:t>
            </a:r>
            <a:endParaRPr lang="en-US" sz="1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088" y="461772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Characters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83768" y="1554480"/>
            <a:ext cx="49377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58288" y="1920240"/>
            <a:ext cx="1188720" cy="11887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1752" y="2203704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3768" y="3291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CROW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40968" y="3840480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 fine piece of cheese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Perched proudly in a tall tree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Loves to be admired and praised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70168" y="1554480"/>
            <a:ext cx="49377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44688" y="1920240"/>
            <a:ext cx="1188720" cy="1188720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8152" y="2203704"/>
            <a:ext cx="621792" cy="6217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70168" y="3291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FOX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827368" y="3840480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Hungry and craving that cheese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Clever, patient, and silver-tongued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flattery opens doors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B8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Lucky Find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0" y="2468880"/>
            <a:ext cx="1463040" cy="1463040"/>
          </a:xfrm>
          <a:prstGeom prst="ellipse">
            <a:avLst/>
          </a:prstGeom>
          <a:solidFill>
            <a:srgbClr val="FFFFFF">
              <a:alpha val="9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784" y="2798064"/>
            <a:ext cx="804672" cy="8046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29768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crow spotted a wedge of cheese on a windowsill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carried it off to a high branch to enjoy alone.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54880" y="73152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heart of the forest, a crow had found something wonderful.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754880" y="1828800"/>
            <a:ext cx="67665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had snatched a delicious piece of cheese from a farmhouse window and flown to the safety of a tree branch.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she sat, cheese held tightly in her beak, ready to enjoy her prize in peace.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she wasn't as alone as she thought — a clever fox was passing below, and the smell of cheese stopped him in his tracks.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754880" y="4846320"/>
            <a:ext cx="6766560" cy="1417320"/>
          </a:xfrm>
          <a:prstGeom prst="roundRect">
            <a:avLst>
              <a:gd name="adj" fmla="val 6452"/>
            </a:avLst>
          </a:prstGeom>
          <a:solidFill>
            <a:srgbClr val="F7F4EC"/>
          </a:solidFill>
          <a:ln/>
        </p:spPr>
      </p:sp>
      <p:sp>
        <p:nvSpPr>
          <p:cNvPr id="11" name="Shape 8"/>
          <p:cNvSpPr/>
          <p:nvPr/>
        </p:nvSpPr>
        <p:spPr>
          <a:xfrm>
            <a:off x="5074920" y="5166360"/>
            <a:ext cx="777240" cy="777240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944" y="5358384"/>
            <a:ext cx="393192" cy="3931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080760" y="5029200"/>
            <a:ext cx="5257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know?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original Greek version by Aesop, the bird was a raven — it became a “crow” in later retellings.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Fox Lays a Trap of Words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658368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2860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2880360"/>
            <a:ext cx="5852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5C4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“Good day, beautiful crow! What a stunning creature you are.”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5C4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5C4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“Your feathers shine brighter than any bird in this forest, and I have heard your voice is just as magnificent.”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5C4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5C4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“Won't you sing for me? I'm certain you must be the finest singer of all the birds!”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2011680"/>
            <a:ext cx="3657600" cy="4023360"/>
          </a:xfrm>
          <a:prstGeom prst="roundRect">
            <a:avLst>
              <a:gd name="adj" fmla="val 3000"/>
            </a:avLst>
          </a:prstGeom>
          <a:solidFill>
            <a:srgbClr val="2C5F2D"/>
          </a:solidFill>
          <a:ln/>
        </p:spPr>
      </p:sp>
      <p:sp>
        <p:nvSpPr>
          <p:cNvPr id="8" name="Shape 5"/>
          <p:cNvSpPr/>
          <p:nvPr/>
        </p:nvSpPr>
        <p:spPr>
          <a:xfrm>
            <a:off x="8778240" y="2514600"/>
            <a:ext cx="1645920" cy="1645920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4" y="2935224"/>
            <a:ext cx="804672" cy="8046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92440" y="443484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Flattery is a tool the fox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with great skill 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praising looks, voice,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reputation.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Vanity Opens Her Beak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272888" y="1920240"/>
            <a:ext cx="1645920" cy="1645920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4368" y="233172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09848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opened her beak to sing…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900000">
            <a:off x="3718408" y="4297680"/>
            <a:ext cx="640080" cy="6400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181448" y="3520440"/>
            <a:ext cx="91440" cy="91440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9" name="Shape 5"/>
          <p:cNvSpPr/>
          <p:nvPr/>
        </p:nvSpPr>
        <p:spPr>
          <a:xfrm>
            <a:off x="5474056" y="3776472"/>
            <a:ext cx="91440" cy="91440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10" name="Shape 6"/>
          <p:cNvSpPr/>
          <p:nvPr/>
        </p:nvSpPr>
        <p:spPr>
          <a:xfrm>
            <a:off x="5766664" y="4032504"/>
            <a:ext cx="91440" cy="91440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11" name="Shape 7"/>
          <p:cNvSpPr/>
          <p:nvPr/>
        </p:nvSpPr>
        <p:spPr>
          <a:xfrm>
            <a:off x="7376008" y="4160520"/>
            <a:ext cx="1371600" cy="1371600"/>
          </a:xfrm>
          <a:prstGeom prst="ellipse">
            <a:avLst/>
          </a:prstGeom>
          <a:solidFill>
            <a:srgbClr val="D4A24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8616" y="4453128"/>
            <a:ext cx="786384" cy="7863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5943600"/>
            <a:ext cx="99971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the moment she did, the cheese tumbled from her beak — straight down to the fox waiting below.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6B8E4E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4114800"/>
            <a:ext cx="4572000" cy="4572000"/>
          </a:xfrm>
          <a:prstGeom prst="ellipse">
            <a:avLst/>
          </a:prstGeom>
          <a:solidFill>
            <a:srgbClr val="D4A24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7772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MORAL OF THE STORY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12772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“Do not trust flatterers.”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92328" y="2834640"/>
            <a:ext cx="32918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72488" y="3108960"/>
            <a:ext cx="731520" cy="731520"/>
          </a:xfrm>
          <a:prstGeom prst="ellipse">
            <a:avLst/>
          </a:prstGeom>
          <a:solidFill>
            <a:srgbClr val="5C403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6224" y="3282696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0928" y="3977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Flattery has a price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66648" y="43434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Compliments that feel too generous often come with a hidden motive.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49928" y="2834640"/>
            <a:ext cx="32918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30088" y="310896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824" y="328269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78528" y="3977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Vanity blinds judgment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724248" y="43434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crow lost her prize the moment she stopped thinking and started preening.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07528" y="2834640"/>
            <a:ext cx="32918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387688" y="3108960"/>
            <a:ext cx="731520" cy="731520"/>
          </a:xfrm>
          <a:prstGeom prst="ellipse">
            <a:avLst/>
          </a:prstGeom>
          <a:solidFill>
            <a:srgbClr val="5C403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1424" y="328269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36128" y="3977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you act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381848" y="43434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moment's pause could have let her keep both the cheese and her dignity.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1448" y="1005840"/>
            <a:ext cx="1828800" cy="1828800"/>
          </a:xfrm>
          <a:prstGeom prst="ellipse">
            <a:avLst/>
          </a:prstGeom>
          <a:solidFill>
            <a:srgbClr val="FFFFFF">
              <a:alpha val="9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8648" y="14630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10896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7F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Aesop's Fables • Timeless Lessons in Wisdom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Fox and the Crow</dc:title>
  <dc:subject>PptxGenJS Presentation</dc:subject>
  <dc:creator>Aesop's Fables</dc:creator>
  <cp:lastModifiedBy>Aesop's Fables</cp:lastModifiedBy>
  <cp:revision>1</cp:revision>
  <dcterms:created xsi:type="dcterms:W3CDTF">2026-06-29T10:58:22Z</dcterms:created>
  <dcterms:modified xsi:type="dcterms:W3CDTF">2026-06-29T10:58:22Z</dcterms:modified>
</cp:coreProperties>
</file>